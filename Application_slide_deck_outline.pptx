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minutes. Banking disputes as the reference vertical. The thesis is one sentence: reconciliation is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knowledge exists. It cannot reach the point of decision fast enough. Three pressures, one squeeze.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Priya. Every row is a stall. The baselines are stated assumptions, not a measured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tools are already deployed for this. Each does real work. Each stops in the same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gaps are the product spec. Everything after this slide answers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slide. The model finds the contradiction; the ladder resolves it. That is what makes conflict resolution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C3 is the sharpest case. Two documents disagree and the deciding fact is in neither. A documents-only system cannot resolve this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LangGraph state machine. One parallel fan-out, one interrupt. Simplest architecture that does the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conflict banner is the differentiator made visible. An invisible differentiator is not a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monetary executes before this click. There is no auto-approve mode at any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Grounding is inspectable, not a black box. Upload a document and the counts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three is the one to dwell on. Precedence is deterministic, so conflict resolution is testable rather than a vibe.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Conflict detection recall is the headline metric and the one target we will not trade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assumption out loud: the manual baselines are stated, not measured. The copilot-side numbers are the ones we instrument.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The banking pack ships; the boundary between engine and pack is the reusability claim. Ask: a second domain pack and a live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763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255C3"/>
          </a:solidFill>
          <a:ln/>
        </p:spPr>
      </p:sp>
      <p:sp>
        <p:nvSpPr>
          <p:cNvPr id="3" name="Text 1"/>
          <p:cNvSpPr/>
          <p:nvPr/>
        </p:nvSpPr>
        <p:spPr>
          <a:xfrm>
            <a:off x="1162050" y="838200"/>
            <a:ext cx="23096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b="1" spc="-2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Copilot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195638"/>
            <a:ext cx="14668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52" kern="0" dirty="0">
                <a:solidFill>
                  <a:srgbClr val="2255C3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1 · KNOWLEDGE TO ACTION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881438"/>
            <a:ext cx="13735050" cy="201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540"/>
              </a:lnSpc>
              <a:buNone/>
            </a:pPr>
            <a:r>
              <a:rPr lang="en-US" sz="7800" b="1" spc="-23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Knowledge‑to‑Action Copilot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952500" y="6205538"/>
            <a:ext cx="115766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300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 reconciliation and human‑approved action, built on retail banking card disputes.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2500" y="9191625"/>
            <a:ext cx="224742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68"/>
              </a:lnSpc>
              <a:buNone/>
            </a:pPr>
            <a:r>
              <a:rPr lang="en-US" sz="195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grounding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529013" y="9191625"/>
            <a:ext cx="33058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68"/>
              </a:lnSpc>
              <a:buNone/>
            </a:pPr>
            <a:r>
              <a:rPr lang="en-US" sz="195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precedence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067749" y="9191625"/>
            <a:ext cx="32145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68"/>
              </a:lnSpc>
              <a:buNone/>
            </a:pPr>
            <a:r>
              <a:rPr lang="en-US" sz="195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approval gate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BUSINESS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4800" b="1" spc="-96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 of Fragmented Knowledge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430760"/>
            <a:ext cx="1471612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30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Banks already hold everything needed to resolve a dispute. It just never arrives at the point of decision as one answer.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52500" y="4030960"/>
            <a:ext cx="5257800" cy="3413026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9850" y="4418310"/>
            <a:ext cx="49314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9850" y="4951711"/>
            <a:ext cx="4617593" cy="2143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89"/>
              </a:lnSpc>
              <a:buNone/>
            </a:pPr>
            <a:r>
              <a:rPr lang="en-US" sz="25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summaries, network rules, bank policy, product terms and systems of record — five places, no shared order of authority.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4030960"/>
            <a:ext cx="5257800" cy="3413026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2450" y="4418310"/>
            <a:ext cx="49314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ABSORBED BY PEOPLE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02450" y="4951711"/>
            <a:ext cx="4617593" cy="1722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89"/>
              </a:lnSpc>
              <a:buNone/>
            </a:pPr>
            <a:r>
              <a:rPr lang="en-US" sz="25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dispute agent carries 40–60 cases a day and reconciles the sources in their head, case by case.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77700" y="4030960"/>
            <a:ext cx="5257800" cy="3413026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65051" y="4418310"/>
            <a:ext cx="49314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465051" y="4951711"/>
            <a:ext cx="4617593" cy="2143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89"/>
              </a:lnSpc>
              <a:buNone/>
            </a:pPr>
            <a:r>
              <a:rPr lang="en-US" sz="25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Provisional credit runs to a deadline. Guessing the wrong clause is a compliance event, not a bad answer.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PER CASE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4800" b="1" spc="-96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Dispute, Four Systems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583160"/>
            <a:ext cx="16383000" cy="5724525"/>
          </a:xfrm>
          <a:prstGeom prst="roundRect">
            <a:avLst>
              <a:gd name="adj" fmla="val 1331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8850" y="2589510"/>
            <a:ext cx="16370301" cy="80645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958850" y="3389610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7" name="Text 5"/>
          <p:cNvSpPr/>
          <p:nvPr/>
        </p:nvSpPr>
        <p:spPr>
          <a:xfrm>
            <a:off x="1339850" y="2818110"/>
            <a:ext cx="52027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69608" y="2818110"/>
            <a:ext cx="572300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SHE LOOKS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72342" y="2818110"/>
            <a:ext cx="62433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STALLS HER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8850" y="4338935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11" name="Text 9"/>
          <p:cNvSpPr/>
          <p:nvPr/>
        </p:nvSpPr>
        <p:spPr>
          <a:xfrm>
            <a:off x="1339850" y="3681710"/>
            <a:ext cx="52027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the claim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069608" y="3681710"/>
            <a:ext cx="572300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tool, free text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272342" y="3681710"/>
            <a:ext cx="62433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and entities re‑typed by hand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58850" y="5659735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15" name="Text 13"/>
          <p:cNvSpPr/>
          <p:nvPr/>
        </p:nvSpPr>
        <p:spPr>
          <a:xfrm>
            <a:off x="1339850" y="4631035"/>
            <a:ext cx="487165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rule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069608" y="4631035"/>
            <a:ext cx="53588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60‑page policy PDF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1272342" y="4631035"/>
            <a:ext cx="584608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returns the passage, not the clause that governs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8850" y="6980536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19" name="Text 17"/>
          <p:cNvSpPr/>
          <p:nvPr/>
        </p:nvSpPr>
        <p:spPr>
          <a:xfrm>
            <a:off x="1339850" y="5951836"/>
            <a:ext cx="487165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account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069608" y="5951836"/>
            <a:ext cx="53588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banking, fraud console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72342" y="5951836"/>
            <a:ext cx="584608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tier and fraud flags live outside every document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39850" y="7272635"/>
            <a:ext cx="487165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Act, or escalate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069608" y="7272635"/>
            <a:ext cx="53588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screen, notice template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1272342" y="7272635"/>
            <a:ext cx="584608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Unsure of the deadline, so it goes to the team lead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52500" y="8650585"/>
            <a:ext cx="18021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Framing assumption for this deck: roughly 11 minutes and 6 system switches per dispute. Stated, not measured.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DEPLOYED TODAY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4800" b="1" spc="-96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Industry Standard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697460"/>
            <a:ext cx="5257800" cy="3207346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9850" y="3084810"/>
            <a:ext cx="493141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5"/>
              </a:lnSpc>
              <a:buNone/>
            </a:pPr>
            <a:r>
              <a:rPr lang="en-US" sz="27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search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39850" y="3827760"/>
            <a:ext cx="461759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Indexes the document estate and ranks passages by relevance.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39850" y="5170786"/>
            <a:ext cx="493141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B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Stops at a reading list.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15100" y="2697460"/>
            <a:ext cx="5257800" cy="3207346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2450" y="3084810"/>
            <a:ext cx="493141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5"/>
              </a:lnSpc>
              <a:buNone/>
            </a:pPr>
            <a:r>
              <a:rPr lang="en-US" sz="27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chat assistant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902450" y="3827760"/>
            <a:ext cx="461759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in natural language over retrieved chunks, with citations.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902450" y="5170786"/>
            <a:ext cx="493141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B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Stops at a confident paragraph.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77700" y="2697460"/>
            <a:ext cx="5257800" cy="3207346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65051" y="3084810"/>
            <a:ext cx="493141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15"/>
              </a:lnSpc>
              <a:buNone/>
            </a:pPr>
            <a:r>
              <a:rPr lang="en-US" sz="27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and RPA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2465051" y="3827760"/>
            <a:ext cx="461759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Executes fixed workflows reliably once a human has decided.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465051" y="5170786"/>
            <a:ext cx="493141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B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Stops at anything unforeseen.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2500" y="6438206"/>
            <a:ext cx="16344900" cy="475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69"/>
              </a:lnSpc>
              <a:buNone/>
            </a:pPr>
            <a:r>
              <a:rPr lang="en-US" sz="25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three assume the sources agree. In disputes they routinely do not.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MISSING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4800" b="1" spc="-96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Gaps the Standard Leaves Open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4159548"/>
            <a:ext cx="16383000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659360"/>
            <a:ext cx="1219200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198"/>
              </a:lnSpc>
              <a:buNone/>
            </a:pPr>
            <a:r>
              <a:rPr lang="en-US" sz="5400" b="1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476500" y="2659360"/>
            <a:ext cx="79629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is not reconciliation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96500" y="2659360"/>
            <a:ext cx="745617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two clauses disagree, ranking silently picks the higher‑scoring chunk and presents it with full confidence.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6047085"/>
            <a:ext cx="16383000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4546898"/>
            <a:ext cx="1219200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198"/>
              </a:lnSpc>
              <a:buNone/>
            </a:pPr>
            <a:r>
              <a:rPr lang="en-US" sz="5400" b="1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476500" y="4546898"/>
            <a:ext cx="79629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are not the whole truth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096500" y="4546898"/>
            <a:ext cx="745617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governing fact is often live entity state — a fraud flag, a card tier, a merchant history — held in systems, never in prose.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" y="6434435"/>
            <a:ext cx="1219200" cy="6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198"/>
              </a:lnSpc>
              <a:buNone/>
            </a:pPr>
            <a:r>
              <a:rPr lang="en-US" sz="5400" b="1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2476500" y="6434435"/>
            <a:ext cx="79629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are not outcomes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096500" y="6434435"/>
            <a:ext cx="745617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correct answer still leaves a person to open four systems and perform the credit, the case and the notice by hand.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B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Reconciliation as the Product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621260"/>
            <a:ext cx="8606072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125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“These two sources disagree. This one governs, and here is why.”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52500" y="4011910"/>
            <a:ext cx="860607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25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copilot that answers from documents is a commodity. One that reconciles them under a declared order of authority, then completes the work behind a human gate, is not.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5554960"/>
            <a:ext cx="860607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25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identifies the contradiction. The ladder resolves it. Precedence is ingestion metadata, not a judgement call — which is what makes it testable.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069910" y="2621260"/>
            <a:ext cx="79921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PRECEDENCE LADDER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69910" y="3230860"/>
            <a:ext cx="7265591" cy="885825"/>
          </a:xfrm>
          <a:prstGeom prst="roundRect">
            <a:avLst>
              <a:gd name="adj" fmla="val 8602"/>
            </a:avLst>
          </a:prstGeom>
          <a:solidFill>
            <a:srgbClr val="2255C3"/>
          </a:solidFill>
          <a:ln/>
        </p:spPr>
      </p:sp>
      <p:sp>
        <p:nvSpPr>
          <p:cNvPr id="9" name="Text 7"/>
          <p:cNvSpPr/>
          <p:nvPr/>
        </p:nvSpPr>
        <p:spPr>
          <a:xfrm>
            <a:off x="10336610" y="3473748"/>
            <a:ext cx="24884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737850" y="3459460"/>
            <a:ext cx="358767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requirement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069910" y="4269085"/>
            <a:ext cx="7265591" cy="898525"/>
          </a:xfrm>
          <a:prstGeom prst="roundRect">
            <a:avLst>
              <a:gd name="adj" fmla="val 8481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BDC6D1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42959" y="4518323"/>
            <a:ext cx="24884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b="1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744200" y="4504035"/>
            <a:ext cx="282226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network rules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069910" y="5320010"/>
            <a:ext cx="7265591" cy="898525"/>
          </a:xfrm>
          <a:prstGeom prst="roundRect">
            <a:avLst>
              <a:gd name="adj" fmla="val 8481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BDC6D1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42959" y="5569248"/>
            <a:ext cx="24884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b="1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0" y="5554960"/>
            <a:ext cx="307438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policy and SOP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069910" y="6370936"/>
            <a:ext cx="7265591" cy="898525"/>
          </a:xfrm>
          <a:prstGeom prst="roundRect">
            <a:avLst>
              <a:gd name="adj" fmla="val 8481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BDC6D1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42959" y="6620173"/>
            <a:ext cx="24884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b="1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744200" y="6605885"/>
            <a:ext cx="4359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terms and conditions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069910" y="7612360"/>
            <a:ext cx="748355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21"/>
              </a:lnSpc>
              <a:buNone/>
            </a:pPr>
            <a:r>
              <a:rPr lang="en-US" sz="195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Override: a lower tier that is more favourable to the customer and breaches no higher tier binds.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WORKED CASE · C3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478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4800" b="1" spc="-96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Flag That Is in No Document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583160"/>
            <a:ext cx="8039100" cy="2005211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BDC6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1750" y="2932410"/>
            <a:ext cx="8074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SOP · FSP‑1.2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01750" y="3446760"/>
            <a:ext cx="756081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24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transaction carrying a fraud‑engine flag routes to Fraud Ops.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296400" y="2583160"/>
            <a:ext cx="8039100" cy="2005211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BDC6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45650" y="2932410"/>
            <a:ext cx="8074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DISPUTE POLICY · BDP‑2.1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45650" y="3446760"/>
            <a:ext cx="756081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63"/>
              </a:lnSpc>
              <a:buNone/>
            </a:pPr>
            <a:r>
              <a:rPr lang="en-US" sz="24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Cardholder‑reported unauthorised transactions open a dispute case.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52500" y="4893171"/>
            <a:ext cx="8039100" cy="2217341"/>
          </a:xfrm>
          <a:prstGeom prst="roundRect">
            <a:avLst>
              <a:gd name="adj" fmla="val 3437"/>
            </a:avLst>
          </a:prstGeom>
          <a:solidFill>
            <a:srgbClr val="E9F6F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236071"/>
            <a:ext cx="80886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1A7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RECORD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5400" y="5750421"/>
            <a:ext cx="808863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11"/>
              </a:lnSpc>
              <a:buNone/>
            </a:pPr>
            <a:r>
              <a:rPr lang="en-US" sz="2550" b="1" dirty="0">
                <a:solidFill>
                  <a:srgbClr val="171C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fraud_flag = true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95400" y="6407646"/>
            <a:ext cx="808863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in SQLite only. In no policy, SOP or product term.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296400" y="4893171"/>
            <a:ext cx="8039100" cy="2217341"/>
          </a:xfrm>
          <a:prstGeom prst="roundRect">
            <a:avLst>
              <a:gd name="adj" fmla="val 3437"/>
            </a:avLst>
          </a:prstGeom>
          <a:solidFill>
            <a:srgbClr val="EDF8F3"/>
          </a:solidFill>
          <a:ln/>
        </p:spPr>
      </p:sp>
      <p:sp>
        <p:nvSpPr>
          <p:cNvPr id="15" name="Text 13"/>
          <p:cNvSpPr/>
          <p:nvPr/>
        </p:nvSpPr>
        <p:spPr>
          <a:xfrm>
            <a:off x="9639300" y="5236071"/>
            <a:ext cx="80886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277C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39300" y="5750421"/>
            <a:ext cx="808863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08"/>
              </a:lnSpc>
              <a:buNone/>
            </a:pPr>
            <a:r>
              <a:rPr lang="en-US" sz="255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to Fraud Ops, not dispute intake.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639300" y="6326684"/>
            <a:ext cx="8088630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Cited, deadline stated, both losing clauses shown.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2500" y="7567712"/>
            <a:ext cx="15304770" cy="91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69"/>
              </a:lnSpc>
              <a:buNone/>
            </a:pPr>
            <a:r>
              <a:rPr lang="en-US" sz="25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documents‑only assistant cannot resolve C3 at any level of model quality. This is where hybrid grounding earns its cost.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097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4800" b="1" spc="-96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506960"/>
            <a:ext cx="2057599" cy="1898650"/>
          </a:xfrm>
          <a:prstGeom prst="roundRect">
            <a:avLst>
              <a:gd name="adj" fmla="val 4013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5550" y="2741910"/>
            <a:ext cx="166264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25550" y="3246735"/>
            <a:ext cx="16626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intent, entities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81549" y="2506960"/>
            <a:ext cx="355699" cy="193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410"/>
              </a:lnSpc>
              <a:buNone/>
            </a:pPr>
            <a:r>
              <a:rPr lang="en-US" sz="255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3632498" y="2506960"/>
            <a:ext cx="9550103" cy="1898650"/>
          </a:xfrm>
          <a:prstGeom prst="roundRect">
            <a:avLst>
              <a:gd name="adj" fmla="val 4013"/>
            </a:avLst>
          </a:prstGeom>
          <a:solidFill>
            <a:srgbClr val="FFFFFF"/>
          </a:solidFill>
          <a:ln w="6350">
            <a:solidFill>
              <a:srgbClr val="BDC6D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867448" y="2703810"/>
            <a:ext cx="99882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· PARALLEL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67448" y="3180060"/>
            <a:ext cx="2937768" cy="1028700"/>
          </a:xfrm>
          <a:prstGeom prst="roundRect">
            <a:avLst>
              <a:gd name="adj" fmla="val 5556"/>
            </a:avLst>
          </a:prstGeom>
          <a:solidFill>
            <a:srgbClr val="EEF2FC"/>
          </a:solidFill>
          <a:ln/>
        </p:spPr>
      </p:sp>
      <p:sp>
        <p:nvSpPr>
          <p:cNvPr id="11" name="Text 9"/>
          <p:cNvSpPr/>
          <p:nvPr/>
        </p:nvSpPr>
        <p:spPr>
          <a:xfrm>
            <a:off x="4038898" y="3332460"/>
            <a:ext cx="28543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68"/>
              </a:lnSpc>
              <a:buNone/>
            </a:pPr>
            <a:r>
              <a:rPr lang="en-US" sz="1950" b="1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038898" y="3742035"/>
            <a:ext cx="28543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passages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938566" y="3180060"/>
            <a:ext cx="2937867" cy="1028700"/>
          </a:xfrm>
          <a:prstGeom prst="roundRect">
            <a:avLst>
              <a:gd name="adj" fmla="val 5556"/>
            </a:avLst>
          </a:prstGeom>
          <a:solidFill>
            <a:srgbClr val="EEF2FC"/>
          </a:solidFill>
          <a:ln/>
        </p:spPr>
      </p:sp>
      <p:sp>
        <p:nvSpPr>
          <p:cNvPr id="14" name="Text 12"/>
          <p:cNvSpPr/>
          <p:nvPr/>
        </p:nvSpPr>
        <p:spPr>
          <a:xfrm>
            <a:off x="7110016" y="3332460"/>
            <a:ext cx="28544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68"/>
              </a:lnSpc>
              <a:buNone/>
            </a:pPr>
            <a:r>
              <a:rPr lang="en-US" sz="1950" b="1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Neo4j / Kùzu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110016" y="3742035"/>
            <a:ext cx="28544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neighbourhood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009783" y="3180060"/>
            <a:ext cx="2937768" cy="1028700"/>
          </a:xfrm>
          <a:prstGeom prst="roundRect">
            <a:avLst>
              <a:gd name="adj" fmla="val 5556"/>
            </a:avLst>
          </a:prstGeom>
          <a:solidFill>
            <a:srgbClr val="EEF2FC"/>
          </a:solidFill>
          <a:ln/>
        </p:spPr>
      </p:sp>
      <p:sp>
        <p:nvSpPr>
          <p:cNvPr id="17" name="Text 15"/>
          <p:cNvSpPr/>
          <p:nvPr/>
        </p:nvSpPr>
        <p:spPr>
          <a:xfrm>
            <a:off x="10181233" y="3332460"/>
            <a:ext cx="28543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68"/>
              </a:lnSpc>
              <a:buNone/>
            </a:pPr>
            <a:r>
              <a:rPr lang="en-US" sz="1950" b="1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181233" y="3742035"/>
            <a:ext cx="28543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facts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52500" y="4634210"/>
            <a:ext cx="2082800" cy="1241425"/>
          </a:xfrm>
          <a:prstGeom prst="roundRect">
            <a:avLst>
              <a:gd name="adj" fmla="val 6138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550" y="4869160"/>
            <a:ext cx="169037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reconcile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25550" y="5297785"/>
            <a:ext cx="16903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ladder applied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06750" y="5012035"/>
            <a:ext cx="35569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10"/>
              </a:lnSpc>
              <a:buNone/>
            </a:pPr>
            <a:r>
              <a:rPr lang="en-US" sz="255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3657699" y="4634210"/>
            <a:ext cx="3581003" cy="1241425"/>
          </a:xfrm>
          <a:prstGeom prst="roundRect">
            <a:avLst>
              <a:gd name="adj" fmla="val 6138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0749" y="4869160"/>
            <a:ext cx="33383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3930749" y="5297785"/>
            <a:ext cx="33383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action, citations, confidence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10152" y="5012035"/>
            <a:ext cx="35569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10"/>
              </a:lnSpc>
              <a:buNone/>
            </a:pPr>
            <a:r>
              <a:rPr lang="en-US" sz="255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7861102" y="4634210"/>
            <a:ext cx="2262088" cy="1241425"/>
          </a:xfrm>
          <a:prstGeom prst="roundRect">
            <a:avLst>
              <a:gd name="adj" fmla="val 6138"/>
            </a:avLst>
          </a:prstGeom>
          <a:solidFill>
            <a:srgbClr val="FEF5E7"/>
          </a:solidFill>
          <a:ln w="6350">
            <a:solidFill>
              <a:srgbClr val="BA6C12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4152" y="4869160"/>
            <a:ext cx="18875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b="1" dirty="0">
                <a:solidFill>
                  <a:srgbClr val="BA6C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interrupt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8134152" y="5297785"/>
            <a:ext cx="18875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durable, on disk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95400" y="6482060"/>
            <a:ext cx="34637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10"/>
              </a:lnSpc>
              <a:buNone/>
            </a:pPr>
            <a:r>
              <a:rPr lang="en-US" sz="255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1737023" y="6110585"/>
            <a:ext cx="3653631" cy="1228725"/>
          </a:xfrm>
          <a:prstGeom prst="roundRect">
            <a:avLst>
              <a:gd name="adj" fmla="val 6202"/>
            </a:avLst>
          </a:prstGeom>
          <a:solidFill>
            <a:srgbClr val="EDF8F3"/>
          </a:solidFill>
          <a:ln/>
        </p:spPr>
      </p:sp>
      <p:sp>
        <p:nvSpPr>
          <p:cNvPr id="32" name="Text 30"/>
          <p:cNvSpPr/>
          <p:nvPr/>
        </p:nvSpPr>
        <p:spPr>
          <a:xfrm>
            <a:off x="2003723" y="6339185"/>
            <a:ext cx="34322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b="1" dirty="0">
                <a:solidFill>
                  <a:srgbClr val="277C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→ act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2003723" y="6767810"/>
            <a:ext cx="34322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credit, case, customer notice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562104" y="6110585"/>
            <a:ext cx="2003127" cy="1228725"/>
          </a:xfrm>
          <a:prstGeom prst="roundRect">
            <a:avLst>
              <a:gd name="adj" fmla="val 6202"/>
            </a:avLst>
          </a:prstGeom>
          <a:solidFill>
            <a:srgbClr val="FCEDED"/>
          </a:solidFill>
          <a:ln/>
        </p:spPr>
      </p:sp>
      <p:sp>
        <p:nvSpPr>
          <p:cNvPr id="35" name="Text 33"/>
          <p:cNvSpPr/>
          <p:nvPr/>
        </p:nvSpPr>
        <p:spPr>
          <a:xfrm>
            <a:off x="5828804" y="6339185"/>
            <a:ext cx="16167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b="1" dirty="0">
                <a:solidFill>
                  <a:srgbClr val="B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5828804" y="6767810"/>
            <a:ext cx="1616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side effect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736681" y="6482060"/>
            <a:ext cx="35569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10"/>
              </a:lnSpc>
              <a:buNone/>
            </a:pPr>
            <a:r>
              <a:rPr lang="en-US" sz="255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550" dirty="0"/>
          </a:p>
        </p:txBody>
      </p:sp>
      <p:sp>
        <p:nvSpPr>
          <p:cNvPr id="38" name="Shape 36"/>
          <p:cNvSpPr/>
          <p:nvPr/>
        </p:nvSpPr>
        <p:spPr>
          <a:xfrm>
            <a:off x="8187630" y="6104236"/>
            <a:ext cx="2095599" cy="1241425"/>
          </a:xfrm>
          <a:prstGeom prst="roundRect">
            <a:avLst>
              <a:gd name="adj" fmla="val 6138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60681" y="6339185"/>
            <a:ext cx="170444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8460681" y="6767810"/>
            <a:ext cx="17044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trace, KPIs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716000" y="2506960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716000" y="2945110"/>
            <a:ext cx="3728085" cy="1837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LangGraph state machine. No agent crew — there are no independent concurrent goals to justify one.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3716000" y="5011638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 GUARD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716000" y="5449788"/>
            <a:ext cx="3728085" cy="147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call is tagged. Answer calls hard‑fail on empty context; utility exemptions are logged each time.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3716000" y="7156351"/>
            <a:ext cx="3981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3716000" y="7594501"/>
            <a:ext cx="3728085" cy="147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decision is reconstructable from local storage alone, with no SaaS dependency.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3600" b="1" spc="-72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Console: Recommendation and Conflict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disagreement is stated on screen, with the losing clause shown next to the governing one.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449017"/>
            <a:ext cx="15554226" cy="541913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8944">
            <a:solidFill>
              <a:srgbClr val="BDC6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5200" y="2461717"/>
            <a:ext cx="15528827" cy="70326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965200" y="3156035"/>
            <a:ext cx="15528827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7" name="Shape 5"/>
          <p:cNvSpPr/>
          <p:nvPr/>
        </p:nvSpPr>
        <p:spPr>
          <a:xfrm>
            <a:off x="1235670" y="2698750"/>
            <a:ext cx="54074" cy="216396"/>
          </a:xfrm>
          <a:prstGeom prst="roundRect">
            <a:avLst>
              <a:gd name="adj" fmla="val 50000"/>
            </a:avLst>
          </a:prstGeom>
          <a:solidFill>
            <a:srgbClr val="2255C3"/>
          </a:solidFill>
          <a:ln/>
        </p:spPr>
      </p:sp>
      <p:sp>
        <p:nvSpPr>
          <p:cNvPr id="8" name="Text 6"/>
          <p:cNvSpPr/>
          <p:nvPr/>
        </p:nvSpPr>
        <p:spPr>
          <a:xfrm>
            <a:off x="1506141" y="2665016"/>
            <a:ext cx="1566466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b="1" spc="-11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Copilot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2802" y="2583954"/>
            <a:ext cx="914797" cy="446088"/>
          </a:xfrm>
          <a:prstGeom prst="roundRect">
            <a:avLst>
              <a:gd name="adj" fmla="val 12811"/>
            </a:avLst>
          </a:prstGeom>
          <a:solidFill>
            <a:srgbClr val="EEF2FC"/>
          </a:solidFill>
          <a:ln/>
        </p:spPr>
      </p:sp>
      <p:sp>
        <p:nvSpPr>
          <p:cNvPr id="10" name="Text 8"/>
          <p:cNvSpPr/>
          <p:nvPr/>
        </p:nvSpPr>
        <p:spPr>
          <a:xfrm>
            <a:off x="3308052" y="2641104"/>
            <a:ext cx="800497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39245" y="2641104"/>
            <a:ext cx="1092498" cy="369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255971" y="2695377"/>
            <a:ext cx="689372" cy="261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1950204" y="2665016"/>
            <a:ext cx="198934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343408" y="2695377"/>
            <a:ext cx="754658" cy="261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3102928" y="2665016"/>
            <a:ext cx="1174452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18.2k / 2.4k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471650" y="2695377"/>
            <a:ext cx="960636" cy="261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EST. COST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5437148" y="2665016"/>
            <a:ext cx="862608" cy="32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$0.0412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5200" y="3164979"/>
            <a:ext cx="15528827" cy="46904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89745" y="3489524"/>
            <a:ext cx="15326129" cy="261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DSP‑10428 · SIGNATURE CARD · 214.90 USD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1289745" y="3929162"/>
            <a:ext cx="14879737" cy="1327547"/>
          </a:xfrm>
          <a:prstGeom prst="roundRect">
            <a:avLst>
              <a:gd name="adj" fmla="val 5740"/>
            </a:avLst>
          </a:prstGeom>
          <a:solidFill>
            <a:srgbClr val="FEF5E7"/>
          </a:solidFill>
          <a:ln w="8944">
            <a:solidFill>
              <a:srgbClr val="BA6C12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18841" y="4131171"/>
            <a:ext cx="14854192" cy="261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BA6C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CONFLICT DETECTED · RESOLVED BY PRECEDENCE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518841" y="4435475"/>
            <a:ext cx="14854192" cy="312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00"/>
              </a:lnSpc>
              <a:buNone/>
            </a:pPr>
            <a:r>
              <a:rPr lang="en-US" sz="10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Provisional credit timing differs across sources. </a:t>
            </a:r>
            <a:pPr algn="l" indent="0" marL="0">
              <a:lnSpc>
                <a:spcPct val="121800"/>
              </a:lnSpc>
              <a:buNone/>
            </a:pPr>
            <a:r>
              <a:rPr lang="en-US" sz="105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PCT‑7.1 governs (tier 4, more favourable): </a:t>
            </a:r>
            <a:pPr algn="l" indent="0" marL="0">
              <a:lnSpc>
                <a:spcPct val="121800"/>
              </a:lnSpc>
              <a:buNone/>
            </a:pPr>
            <a:r>
              <a:rPr lang="en-US" sz="10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business days for Signature cardholders.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518841" y="4790976"/>
            <a:ext cx="14854192" cy="301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975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Superseded: BDP‑4.2 (10 business days) · REG‑E‑3 sets a 10‑day ceiling, not a target.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1289745" y="5473105"/>
            <a:ext cx="14879737" cy="2057797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8944">
            <a:solidFill>
              <a:srgbClr val="DDE2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18841" y="5702201"/>
            <a:ext cx="4410954" cy="261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ACTION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518841" y="6006505"/>
            <a:ext cx="4410954" cy="3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87"/>
              </a:lnSpc>
              <a:buNone/>
            </a:pPr>
            <a:r>
              <a:rPr lang="en-US" sz="1275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provisional credit of 214.90 USD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4773176" y="5702201"/>
            <a:ext cx="1167209" cy="261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4773176" y="6006505"/>
            <a:ext cx="1167209" cy="3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3387"/>
              </a:lnSpc>
              <a:buNone/>
            </a:pPr>
            <a:r>
              <a:rPr lang="en-US" sz="1275" b="1" dirty="0">
                <a:solidFill>
                  <a:srgbClr val="277C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0.91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518841" y="6513513"/>
            <a:ext cx="14854192" cy="3125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00"/>
              </a:lnSpc>
              <a:buNone/>
            </a:pPr>
            <a:r>
              <a:rPr lang="en-US" sz="10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Cardholder reported goods not received. No fraud flag on the transaction record, so dispute intake applies. Premium card terms set the stricter credit deadline.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518841" y="6950175"/>
            <a:ext cx="864394" cy="351631"/>
          </a:xfrm>
          <a:prstGeom prst="roundRect">
            <a:avLst>
              <a:gd name="adj" fmla="val 10835"/>
            </a:avLst>
          </a:prstGeom>
          <a:solidFill>
            <a:srgbClr val="EEF2FC"/>
          </a:solidFill>
          <a:ln/>
        </p:spPr>
      </p:sp>
      <p:sp>
        <p:nvSpPr>
          <p:cNvPr id="31" name="Text 29"/>
          <p:cNvSpPr/>
          <p:nvPr/>
        </p:nvSpPr>
        <p:spPr>
          <a:xfrm>
            <a:off x="1595041" y="6988275"/>
            <a:ext cx="788194" cy="313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00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PCT‑7.1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91383" y="6950175"/>
            <a:ext cx="873919" cy="351631"/>
          </a:xfrm>
          <a:prstGeom prst="roundRect">
            <a:avLst>
              <a:gd name="adj" fmla="val 10835"/>
            </a:avLst>
          </a:prstGeom>
          <a:solidFill>
            <a:srgbClr val="EEF2FC"/>
          </a:solidFill>
          <a:ln/>
        </p:spPr>
      </p:sp>
      <p:sp>
        <p:nvSpPr>
          <p:cNvPr id="33" name="Text 31"/>
          <p:cNvSpPr/>
          <p:nvPr/>
        </p:nvSpPr>
        <p:spPr>
          <a:xfrm>
            <a:off x="2567583" y="6988275"/>
            <a:ext cx="797719" cy="313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00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REG‑E‑3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3450" y="6950175"/>
            <a:ext cx="863104" cy="351631"/>
          </a:xfrm>
          <a:prstGeom prst="roundRect">
            <a:avLst>
              <a:gd name="adj" fmla="val 10835"/>
            </a:avLst>
          </a:prstGeom>
          <a:solidFill>
            <a:srgbClr val="EEF2FC"/>
          </a:solidFill>
          <a:ln/>
        </p:spPr>
      </p:sp>
      <p:sp>
        <p:nvSpPr>
          <p:cNvPr id="35" name="Text 33"/>
          <p:cNvSpPr/>
          <p:nvPr/>
        </p:nvSpPr>
        <p:spPr>
          <a:xfrm>
            <a:off x="3549650" y="6988275"/>
            <a:ext cx="786904" cy="313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00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BDP‑2.1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44703" y="6950175"/>
            <a:ext cx="2154039" cy="351631"/>
          </a:xfrm>
          <a:prstGeom prst="roundRect">
            <a:avLst>
              <a:gd name="adj" fmla="val 10835"/>
            </a:avLst>
          </a:prstGeom>
          <a:solidFill>
            <a:srgbClr val="F9FAFB"/>
          </a:solidFill>
          <a:ln/>
        </p:spPr>
      </p:sp>
      <p:sp>
        <p:nvSpPr>
          <p:cNvPr id="37" name="Text 35"/>
          <p:cNvSpPr/>
          <p:nvPr/>
        </p:nvSpPr>
        <p:spPr>
          <a:xfrm>
            <a:off x="4520903" y="6988275"/>
            <a:ext cx="2077839" cy="313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deadline 2 business days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06890" y="6950175"/>
            <a:ext cx="1308596" cy="351631"/>
          </a:xfrm>
          <a:prstGeom prst="roundRect">
            <a:avLst>
              <a:gd name="adj" fmla="val 10835"/>
            </a:avLst>
          </a:prstGeom>
          <a:solidFill>
            <a:srgbClr val="F9FAFB"/>
          </a:solidFill>
          <a:ln/>
        </p:spPr>
      </p:sp>
      <p:sp>
        <p:nvSpPr>
          <p:cNvPr id="39" name="Text 37"/>
          <p:cNvSpPr/>
          <p:nvPr/>
        </p:nvSpPr>
        <p:spPr>
          <a:xfrm>
            <a:off x="6783090" y="6988275"/>
            <a:ext cx="1232396" cy="313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42.6s elapsed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3600" b="1" spc="-72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Console: Approval Gate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graph is paused on disk. No credit, case or customer notice exists yet.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343150"/>
            <a:ext cx="9555460" cy="3759002"/>
          </a:xfrm>
          <a:prstGeom prst="roundRect">
            <a:avLst>
              <a:gd name="adj" fmla="val 2534"/>
            </a:avLst>
          </a:prstGeom>
          <a:solidFill>
            <a:srgbClr val="FFFFFF"/>
          </a:solidFill>
          <a:ln w="4811">
            <a:solidFill>
              <a:srgbClr val="BDC6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8850" y="3356721"/>
            <a:ext cx="954276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6" name="Text 4"/>
          <p:cNvSpPr/>
          <p:nvPr/>
        </p:nvSpPr>
        <p:spPr>
          <a:xfrm>
            <a:off x="1210270" y="2550616"/>
            <a:ext cx="9311117" cy="245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AWAITING APPROVAL · DSP‑10428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210270" y="2833489"/>
            <a:ext cx="9311117" cy="3586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87"/>
              </a:lnSpc>
              <a:buNone/>
            </a:pPr>
            <a:r>
              <a:rPr lang="en-US" sz="1275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Provisional credit · 214.90 USD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210270" y="3562648"/>
            <a:ext cx="1524298" cy="302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Governing clause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25223" y="3562648"/>
            <a:ext cx="1401167" cy="302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PCT‑7.1 (tier 4)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10270" y="3977481"/>
            <a:ext cx="806152" cy="302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Deadline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886726" y="3977481"/>
            <a:ext cx="1439664" cy="302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business days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10270" y="4392315"/>
            <a:ext cx="841177" cy="302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26586" y="4392315"/>
            <a:ext cx="2399804" cy="302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policy · 2 graph · 1 record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10270" y="4807148"/>
            <a:ext cx="1039713" cy="302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60756" y="4807148"/>
            <a:ext cx="465634" cy="302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277C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8850" y="5272286"/>
            <a:ext cx="9542761" cy="82351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958850" y="5272286"/>
            <a:ext cx="954276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18" name="Shape 16"/>
          <p:cNvSpPr/>
          <p:nvPr/>
        </p:nvSpPr>
        <p:spPr>
          <a:xfrm>
            <a:off x="1210270" y="5486102"/>
            <a:ext cx="2088456" cy="402233"/>
          </a:xfrm>
          <a:prstGeom prst="roundRect">
            <a:avLst>
              <a:gd name="adj" fmla="val 14208"/>
            </a:avLst>
          </a:prstGeom>
          <a:solidFill>
            <a:srgbClr val="2255C3"/>
          </a:solidFill>
          <a:ln/>
        </p:spPr>
      </p:sp>
      <p:sp>
        <p:nvSpPr>
          <p:cNvPr id="19" name="Text 17"/>
          <p:cNvSpPr/>
          <p:nvPr/>
        </p:nvSpPr>
        <p:spPr>
          <a:xfrm>
            <a:off x="1324570" y="5543252"/>
            <a:ext cx="1936056" cy="326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and execute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4436" y="5479753"/>
            <a:ext cx="1866206" cy="414933"/>
          </a:xfrm>
          <a:prstGeom prst="roundRect">
            <a:avLst>
              <a:gd name="adj" fmla="val 13773"/>
            </a:avLst>
          </a:prstGeom>
          <a:ln w="4811">
            <a:solidFill>
              <a:srgbClr val="DDE2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3547" y="5541713"/>
            <a:ext cx="1704184" cy="32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 with reason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75031" y="5574010"/>
            <a:ext cx="1351359" cy="264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0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Approver: M. Osei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41361" y="2343150"/>
            <a:ext cx="69235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APPROVE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041361" y="2781300"/>
            <a:ext cx="648296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2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calls in order: provisional credit, dispute case, customer notice. Outcome and trace written.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041361" y="4243388"/>
            <a:ext cx="69235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REJECT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041361" y="4681538"/>
            <a:ext cx="648296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2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side effect. The rejection and its reason are recorded anyway.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1041361" y="5757863"/>
            <a:ext cx="69235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DESIGN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041361" y="6196013"/>
            <a:ext cx="648296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2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unattended monetary action, at any confidence. The pause survives a page reload.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3600" b="1" spc="-72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Console: Grounding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copilot knows, and where each answer came from, visible on one page.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435324"/>
            <a:ext cx="15510471" cy="5107682"/>
          </a:xfrm>
          <a:prstGeom prst="roundRect">
            <a:avLst>
              <a:gd name="adj" fmla="val 1865"/>
            </a:avLst>
          </a:prstGeom>
          <a:solidFill>
            <a:srgbClr val="FFFFFF"/>
          </a:solidFill>
          <a:ln w="9203">
            <a:solidFill>
              <a:srgbClr val="BDC6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5200" y="2448024"/>
            <a:ext cx="15485071" cy="683419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965200" y="3122240"/>
            <a:ext cx="1548507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7" name="Shape 5"/>
          <p:cNvSpPr/>
          <p:nvPr/>
        </p:nvSpPr>
        <p:spPr>
          <a:xfrm>
            <a:off x="1228031" y="2678212"/>
            <a:ext cx="52487" cy="210245"/>
          </a:xfrm>
          <a:prstGeom prst="roundRect">
            <a:avLst>
              <a:gd name="adj" fmla="val 50000"/>
            </a:avLst>
          </a:prstGeom>
          <a:solidFill>
            <a:srgbClr val="2255C3"/>
          </a:solidFill>
          <a:ln/>
        </p:spPr>
      </p:sp>
      <p:sp>
        <p:nvSpPr>
          <p:cNvPr id="8" name="Text 6"/>
          <p:cNvSpPr/>
          <p:nvPr/>
        </p:nvSpPr>
        <p:spPr>
          <a:xfrm>
            <a:off x="1490762" y="2645371"/>
            <a:ext cx="1524992" cy="314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b="1" spc="-11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Copilot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45048" y="2623741"/>
            <a:ext cx="765572" cy="357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9915" y="2566591"/>
            <a:ext cx="1185366" cy="433586"/>
          </a:xfrm>
          <a:prstGeom prst="roundRect">
            <a:avLst>
              <a:gd name="adj" fmla="val 13181"/>
            </a:avLst>
          </a:prstGeom>
          <a:solidFill>
            <a:srgbClr val="EEF2FC"/>
          </a:solidFill>
          <a:ln/>
        </p:spPr>
      </p:sp>
      <p:sp>
        <p:nvSpPr>
          <p:cNvPr id="11" name="Text 9"/>
          <p:cNvSpPr/>
          <p:nvPr/>
        </p:nvSpPr>
        <p:spPr>
          <a:xfrm>
            <a:off x="4335165" y="2623741"/>
            <a:ext cx="1071066" cy="357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265970" y="2674938"/>
            <a:ext cx="1497608" cy="254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HIT RATIO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5766157" y="2645371"/>
            <a:ext cx="497483" cy="314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228031" y="3394274"/>
            <a:ext cx="3621584" cy="1122660"/>
          </a:xfrm>
          <a:prstGeom prst="roundRect">
            <a:avLst>
              <a:gd name="adj" fmla="val 6787"/>
            </a:avLst>
          </a:prstGeom>
          <a:solidFill>
            <a:srgbClr val="FFFFFF"/>
          </a:solidFill>
          <a:ln w="9203">
            <a:solidFill>
              <a:srgbClr val="DDE2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50975" y="3590925"/>
            <a:ext cx="3270965" cy="254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450975" y="3886498"/>
            <a:ext cx="3270965" cy="471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007273" y="3394274"/>
            <a:ext cx="3621584" cy="1122660"/>
          </a:xfrm>
          <a:prstGeom prst="roundRect">
            <a:avLst>
              <a:gd name="adj" fmla="val 6787"/>
            </a:avLst>
          </a:prstGeom>
          <a:solidFill>
            <a:srgbClr val="FFFFFF"/>
          </a:solidFill>
          <a:ln w="9203">
            <a:solidFill>
              <a:srgbClr val="DDE2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217" y="3590925"/>
            <a:ext cx="3270965" cy="254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CHUNKS EMBEDDED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230217" y="3886498"/>
            <a:ext cx="3270965" cy="471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612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786515" y="3394274"/>
            <a:ext cx="3621584" cy="1122660"/>
          </a:xfrm>
          <a:prstGeom prst="roundRect">
            <a:avLst>
              <a:gd name="adj" fmla="val 6787"/>
            </a:avLst>
          </a:prstGeom>
          <a:solidFill>
            <a:srgbClr val="FFFFFF"/>
          </a:solidFill>
          <a:ln w="9203">
            <a:solidFill>
              <a:srgbClr val="DDE2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9459" y="3590925"/>
            <a:ext cx="3270965" cy="254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NODES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9009459" y="3886498"/>
            <a:ext cx="3270965" cy="471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318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2565757" y="3394274"/>
            <a:ext cx="3621683" cy="1122660"/>
          </a:xfrm>
          <a:prstGeom prst="roundRect">
            <a:avLst>
              <a:gd name="adj" fmla="val 6787"/>
            </a:avLst>
          </a:prstGeom>
          <a:solidFill>
            <a:srgbClr val="FFFFFF"/>
          </a:solidFill>
          <a:ln w="9203">
            <a:solidFill>
              <a:srgbClr val="DDE2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788702" y="3590925"/>
            <a:ext cx="3271068" cy="254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2788702" y="3886498"/>
            <a:ext cx="3271068" cy="471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65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947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228031" y="4779764"/>
            <a:ext cx="8223151" cy="2487712"/>
          </a:xfrm>
          <a:prstGeom prst="roundRect">
            <a:avLst>
              <a:gd name="adj" fmla="val 3063"/>
            </a:avLst>
          </a:prstGeom>
          <a:solidFill>
            <a:srgbClr val="FFFFFF"/>
          </a:solidFill>
          <a:ln w="9203">
            <a:solidFill>
              <a:srgbClr val="DDE2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0975" y="5002709"/>
            <a:ext cx="8010580" cy="254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PREVIEW · LAST RUN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1450975" y="5715719"/>
            <a:ext cx="7777262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29" name="Text 27"/>
          <p:cNvSpPr/>
          <p:nvPr/>
        </p:nvSpPr>
        <p:spPr>
          <a:xfrm>
            <a:off x="1450975" y="5350868"/>
            <a:ext cx="3594209" cy="294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975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PCT‑7.1 — Premium card provisional credit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8290917" y="5350868"/>
            <a:ext cx="1013520" cy="294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975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4 · 0.88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1450975" y="6194847"/>
            <a:ext cx="7777262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32" name="Text 30"/>
          <p:cNvSpPr/>
          <p:nvPr/>
        </p:nvSpPr>
        <p:spPr>
          <a:xfrm>
            <a:off x="1450975" y="5829995"/>
            <a:ext cx="3270965" cy="294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975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BDP‑4.2 — Dispute policy, credit timing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8290917" y="5829995"/>
            <a:ext cx="1013520" cy="294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975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3 · 0.86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1450975" y="6673974"/>
            <a:ext cx="7777262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35" name="Text 33"/>
          <p:cNvSpPr/>
          <p:nvPr/>
        </p:nvSpPr>
        <p:spPr>
          <a:xfrm>
            <a:off x="1450975" y="6309122"/>
            <a:ext cx="2472333" cy="294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975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REG‑E‑3 — Regulatory ceiling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8290917" y="6309122"/>
            <a:ext cx="1013520" cy="294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975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1 · 0.79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450975" y="6788250"/>
            <a:ext cx="2986556" cy="294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975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8841 — fraud_flag false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8700889" y="6788250"/>
            <a:ext cx="603548" cy="294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975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9608840" y="4779764"/>
            <a:ext cx="6578600" cy="2487712"/>
          </a:xfrm>
          <a:prstGeom prst="roundRect">
            <a:avLst>
              <a:gd name="adj" fmla="val 3063"/>
            </a:avLst>
          </a:prstGeom>
          <a:solidFill>
            <a:srgbClr val="FFFFFF"/>
          </a:solidFill>
          <a:ln w="9203">
            <a:solidFill>
              <a:srgbClr val="DDE2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31785" y="5002709"/>
            <a:ext cx="6316692" cy="254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825" spc="6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TO CORPUS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9831785" y="5350868"/>
            <a:ext cx="6132711" cy="807343"/>
          </a:xfrm>
          <a:prstGeom prst="roundRect">
            <a:avLst>
              <a:gd name="adj" fmla="val 7079"/>
            </a:avLst>
          </a:prstGeom>
          <a:ln w="9203">
            <a:solidFill>
              <a:srgbClr val="BDC6D1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9939497" y="5550570"/>
            <a:ext cx="5917287" cy="446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875"/>
              </a:lnSpc>
              <a:buNone/>
            </a:pPr>
            <a:r>
              <a:rPr lang="en-US" sz="975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a policy document to embed and extract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9831785" y="6289576"/>
            <a:ext cx="6316692" cy="274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0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backend: Neo4j Aura · Kùzu fallback verified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IS DIFFERENT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097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4800" b="1" spc="-96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Differentiators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68860"/>
            <a:ext cx="16383000" cy="7022703"/>
          </a:xfrm>
          <a:prstGeom prst="roundRect">
            <a:avLst>
              <a:gd name="adj" fmla="val 1085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8850" y="2475210"/>
            <a:ext cx="16370301" cy="76835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958850" y="3237210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7" name="Text 5"/>
          <p:cNvSpPr/>
          <p:nvPr/>
        </p:nvSpPr>
        <p:spPr>
          <a:xfrm>
            <a:off x="1301750" y="2684760"/>
            <a:ext cx="539154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03156" y="2684760"/>
            <a:ext cx="59307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RAG ASSISTANT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94704" y="2684760"/>
            <a:ext cx="59307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COPILOT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8850" y="4047430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11" name="Text 9"/>
          <p:cNvSpPr/>
          <p:nvPr/>
        </p:nvSpPr>
        <p:spPr>
          <a:xfrm>
            <a:off x="1301750" y="3472160"/>
            <a:ext cx="539154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Conflicting sources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203156" y="3472160"/>
            <a:ext cx="5930702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Ranks and picks one, silently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594704" y="3472160"/>
            <a:ext cx="5930702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Names the conflict and the losing clause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8850" y="5204321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15" name="Text 13"/>
          <p:cNvSpPr/>
          <p:nvPr/>
        </p:nvSpPr>
        <p:spPr>
          <a:xfrm>
            <a:off x="1301750" y="4282380"/>
            <a:ext cx="5048449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Non‑document state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203156" y="4282380"/>
            <a:ext cx="5553293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of reach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594704" y="4282380"/>
            <a:ext cx="5553293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and record retrieved in the same pass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58850" y="6361212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19" name="Text 17"/>
          <p:cNvSpPr/>
          <p:nvPr/>
        </p:nvSpPr>
        <p:spPr>
          <a:xfrm>
            <a:off x="1301750" y="5439271"/>
            <a:ext cx="5048449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 logic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203156" y="5439271"/>
            <a:ext cx="5553293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judgement, per prompt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594704" y="5439271"/>
            <a:ext cx="5553293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ladder from ingestion metadata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58850" y="7518103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23" name="Text 21"/>
          <p:cNvSpPr/>
          <p:nvPr/>
        </p:nvSpPr>
        <p:spPr>
          <a:xfrm>
            <a:off x="1301750" y="6596162"/>
            <a:ext cx="5048449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Completing the work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203156" y="6596162"/>
            <a:ext cx="5553293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 back text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594704" y="6596162"/>
            <a:ext cx="5553293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Executes the workflow behind an approval gate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58850" y="8674993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27" name="Text 25"/>
          <p:cNvSpPr/>
          <p:nvPr/>
        </p:nvSpPr>
        <p:spPr>
          <a:xfrm>
            <a:off x="1301750" y="7753052"/>
            <a:ext cx="5048449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Auditability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203156" y="7753052"/>
            <a:ext cx="5553293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log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1594704" y="7753052"/>
            <a:ext cx="5553293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Context, clause, approver and outcome, locally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01750" y="8909943"/>
            <a:ext cx="5391547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domain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203156" y="8909943"/>
            <a:ext cx="5930702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prompt engineering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1594704" y="8909943"/>
            <a:ext cx="5930702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domain pack: config and data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IS MEASURED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097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4800" b="1" spc="-96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Scorecard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468860"/>
            <a:ext cx="16383000" cy="6179543"/>
          </a:xfrm>
          <a:prstGeom prst="roundRect">
            <a:avLst>
              <a:gd name="adj" fmla="val 1233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8850" y="2475210"/>
            <a:ext cx="16370301" cy="76835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958850" y="3237210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7" name="Text 5"/>
          <p:cNvSpPr/>
          <p:nvPr/>
        </p:nvSpPr>
        <p:spPr>
          <a:xfrm>
            <a:off x="1301750" y="2684760"/>
            <a:ext cx="51758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07100" y="2684760"/>
            <a:ext cx="38819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36113" y="2684760"/>
            <a:ext cx="38819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065126" y="2684760"/>
            <a:ext cx="43132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BY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8850" y="4009330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12" name="Text 10"/>
          <p:cNvSpPr/>
          <p:nvPr/>
        </p:nvSpPr>
        <p:spPr>
          <a:xfrm>
            <a:off x="1301750" y="3453110"/>
            <a:ext cx="5175885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completion time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007100" y="3453110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~11 min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36113" y="3453110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≤90s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065126" y="3453110"/>
            <a:ext cx="4313238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 clock per run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8850" y="4781451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17" name="Text 15"/>
          <p:cNvSpPr/>
          <p:nvPr/>
        </p:nvSpPr>
        <p:spPr>
          <a:xfrm>
            <a:off x="1301750" y="4225230"/>
            <a:ext cx="5175885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rate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07100" y="4225230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536113" y="4225230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≥60%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065126" y="4225230"/>
            <a:ext cx="4313238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Resolved without escalation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58850" y="5553571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22" name="Text 20"/>
          <p:cNvSpPr/>
          <p:nvPr/>
        </p:nvSpPr>
        <p:spPr>
          <a:xfrm>
            <a:off x="1301750" y="4997351"/>
            <a:ext cx="5175885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 quality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007100" y="4997351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536113" y="4997351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≥85%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3065126" y="4997351"/>
            <a:ext cx="4313238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20‑case labelled eval set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58850" y="6325691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27" name="Text 25"/>
          <p:cNvSpPr/>
          <p:nvPr/>
        </p:nvSpPr>
        <p:spPr>
          <a:xfrm>
            <a:off x="1301750" y="5769471"/>
            <a:ext cx="5175885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 precision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007100" y="5769471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536113" y="5769471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≥90% correct clause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065126" y="5769471"/>
            <a:ext cx="4313238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set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58850" y="6332041"/>
            <a:ext cx="16370301" cy="772120"/>
          </a:xfrm>
          <a:prstGeom prst="rect">
            <a:avLst/>
          </a:prstGeom>
          <a:solidFill>
            <a:srgbClr val="EEF2FC"/>
          </a:solidFill>
          <a:ln/>
        </p:spPr>
      </p:sp>
      <p:sp>
        <p:nvSpPr>
          <p:cNvPr id="32" name="Shape 30"/>
          <p:cNvSpPr/>
          <p:nvPr/>
        </p:nvSpPr>
        <p:spPr>
          <a:xfrm>
            <a:off x="958850" y="7097812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33" name="Text 31"/>
          <p:cNvSpPr/>
          <p:nvPr/>
        </p:nvSpPr>
        <p:spPr>
          <a:xfrm>
            <a:off x="1301750" y="6541591"/>
            <a:ext cx="5175885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Conflict detection recall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6007100" y="6541591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536113" y="6541591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on C1–C3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3065126" y="6541591"/>
            <a:ext cx="4313238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set · headline metric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958850" y="7869932"/>
            <a:ext cx="16370301" cy="9525"/>
          </a:xfrm>
          <a:prstGeom prst="rect">
            <a:avLst/>
          </a:prstGeom>
          <a:solidFill>
            <a:srgbClr val="DDE2E9"/>
          </a:solidFill>
          <a:ln/>
        </p:spPr>
      </p:sp>
      <p:sp>
        <p:nvSpPr>
          <p:cNvPr id="38" name="Text 36"/>
          <p:cNvSpPr/>
          <p:nvPr/>
        </p:nvSpPr>
        <p:spPr>
          <a:xfrm>
            <a:off x="1301750" y="7313712"/>
            <a:ext cx="5175885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effort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6007100" y="7313712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~6 switches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536113" y="7313712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≤2 interactions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3065126" y="7313712"/>
            <a:ext cx="4313238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event log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301750" y="8085832"/>
            <a:ext cx="5175885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adherence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6007100" y="8085832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9536113" y="8085832"/>
            <a:ext cx="3881914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b="1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3065126" y="8085832"/>
            <a:ext cx="4313238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Applicable deadline stated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AN ORG GETS BACK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097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4800" b="1" spc="-96" kern="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ROI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545060"/>
            <a:ext cx="5257800" cy="3386336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1750" y="2894310"/>
            <a:ext cx="50152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01750" y="3351510"/>
            <a:ext cx="4696079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12"/>
              </a:lnSpc>
              <a:buNone/>
            </a:pPr>
            <a:r>
              <a:rPr lang="en-US" sz="5700" b="1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min → 2.5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301750" y="4913611"/>
            <a:ext cx="469607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21"/>
              </a:lnSpc>
              <a:buNone/>
            </a:pPr>
            <a:r>
              <a:rPr lang="en-US" sz="19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90s to a grounded recommendation, plus review and approval.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15100" y="2545060"/>
            <a:ext cx="5257800" cy="3386336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64350" y="2894310"/>
            <a:ext cx="50152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RELEASED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64350" y="3351510"/>
            <a:ext cx="501523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12"/>
              </a:lnSpc>
              <a:buNone/>
            </a:pPr>
            <a:r>
              <a:rPr lang="en-US" sz="5700" b="1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 FTE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6864350" y="4189710"/>
            <a:ext cx="4696079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21"/>
              </a:lnSpc>
              <a:buNone/>
            </a:pPr>
            <a:r>
              <a:rPr lang="en-US" sz="19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100,000 disputes a year: about 18,300 agent hours down to about 4,200.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77700" y="2545060"/>
            <a:ext cx="5257800" cy="3386336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6350">
            <a:solidFill>
              <a:srgbClr val="DDE2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26951" y="2894310"/>
            <a:ext cx="50152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26951" y="3351510"/>
            <a:ext cx="501523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12"/>
              </a:lnSpc>
              <a:buNone/>
            </a:pPr>
            <a:r>
              <a:rPr lang="en-US" sz="5700" b="1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≥60%</a:t>
            </a:r>
            <a:endParaRPr lang="en-US" sz="5700" dirty="0"/>
          </a:p>
        </p:txBody>
      </p:sp>
      <p:sp>
        <p:nvSpPr>
          <p:cNvPr id="15" name="Text 13"/>
          <p:cNvSpPr/>
          <p:nvPr/>
        </p:nvSpPr>
        <p:spPr>
          <a:xfrm>
            <a:off x="12426951" y="4189710"/>
            <a:ext cx="4696079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21"/>
              </a:lnSpc>
              <a:buNone/>
            </a:pPr>
            <a:r>
              <a:rPr lang="en-US" sz="19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Cases closed without a team‑lead escalation, freeing approver time for the rest.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6464796"/>
            <a:ext cx="8717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THAT IS NOT HEADCOUNT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" y="6941046"/>
            <a:ext cx="81625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250" dirty="0">
                <a:solidFill>
                  <a:srgbClr val="17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decision states its deadline and cites its governing clause, so compliance work becomes a query instead of a reconstruction. Conflicts surface before the credit, not in an audit.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410700" y="6464796"/>
            <a:ext cx="8717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STATED ASSUMPTIONS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0700" y="6941046"/>
            <a:ext cx="81625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45"/>
              </a:lnSpc>
              <a:buNone/>
            </a:pPr>
            <a:r>
              <a:rPr lang="en-US" sz="2250" dirty="0">
                <a:solidFill>
                  <a:srgbClr val="5E6D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11‑minute and 6‑switch baselines frame the improvement; they are assumptions, not a measured study. Volume is illustrative. The copilot‑side figures are instrumented targets.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B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2255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IT GOES NEXT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097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Engine, Any Vertical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583160"/>
            <a:ext cx="8044815" cy="1820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engine is retrieval, reconciliation, approval and trace. The domain is a pack: corpus, graph schema, tools and precedence ladder — config and data, not code.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4632623"/>
            <a:ext cx="8044815" cy="1531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94"/>
              </a:lnSpc>
              <a:buNone/>
            </a:pPr>
            <a:r>
              <a:rPr lang="en-US" sz="210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Banking disputes ships as the reference pack because it exercises every capability at once: real conflicts, multi‑hop entities, a regulated deadline and money that must not move unattended.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0" y="2583160"/>
            <a:ext cx="85915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1800" spc="216" kern="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SHAPE, OTHER INDUSTRIES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0" y="3154660"/>
            <a:ext cx="24098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906250" y="3173710"/>
            <a:ext cx="538183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authorisation against payer policy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25000" y="3754735"/>
            <a:ext cx="24098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906250" y="3773785"/>
            <a:ext cx="51171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adjustment against tariff terms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25000" y="4354810"/>
            <a:ext cx="24098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906250" y="4373860"/>
            <a:ext cx="56934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non‑conformance against spec hierarchy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25000" y="4954885"/>
            <a:ext cx="24098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727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services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906250" y="4973935"/>
            <a:ext cx="438570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100" dirty="0">
                <a:solidFill>
                  <a:srgbClr val="8591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 eligibility against statute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2500" y="8671719"/>
            <a:ext cx="13735050" cy="92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us a second domain pack and a live corpus, and the same engine answers the next queue.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2026-08-19T13:40:27Z</dcterms:created>
  <dcterms:modified xsi:type="dcterms:W3CDTF">2026-08-19T13:40:27Z</dcterms:modified>
</cp:coreProperties>
</file>